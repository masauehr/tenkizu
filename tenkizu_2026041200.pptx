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36576"/>
            <a:ext cx="8924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1482"/>
                </a:solidFill>
              </a:rPr>
              <a:t>【GSM: 500hPa渦度 / 地上気圧】  </a:t>
            </a:r>
            <a:r>
              <a:rPr sz="1000">
                <a:solidFill>
                  <a:srgbClr val="3C3C3C"/>
                </a:solidFill>
              </a:rPr>
              <a:t>IT: 2026041200  </a:t>
            </a:r>
            <a:r>
              <a:rPr sz="900">
                <a:solidFill>
                  <a:srgbClr val="6E6E6E"/>
                </a:solidFill>
              </a:rPr>
              <a:t>FT000h (04/12 00UTC)  FT012h (04/12 12UTC)</a:t>
            </a:r>
          </a:p>
        </p:txBody>
      </p:sp>
      <p:pic>
        <p:nvPicPr>
          <p:cNvPr id="3" name="Picture 2" descr="2026041200_FT000h_500hPa_Height_V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46" y="347472"/>
            <a:ext cx="3480004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FT000h (04/12 00UTC)  500hPa_Height_VORT</a:t>
            </a:r>
          </a:p>
        </p:txBody>
      </p:sp>
      <p:pic>
        <p:nvPicPr>
          <p:cNvPr id="5" name="Picture 4" descr="2026041200_FT012h_500hPa_Height_V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532" y="347472"/>
            <a:ext cx="349264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99432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FT012h (04/12 12UTC)  500hPa_Height_VORT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" y="3602736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B4B4B4"/>
                </a:solidFill>
              </a:rPr>
              <a:t>（画像なし）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FT000h (04/12 00UTC)  GSM_SurfacePressure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3602736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B4B4B4"/>
                </a:solidFill>
              </a:rPr>
              <a:t>（画像なし）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FT012h (04/12 12UTC)  GSM_SurfacePressure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36576"/>
            <a:ext cx="8924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1482"/>
                </a:solidFill>
              </a:rPr>
              <a:t>【GSM: 500hPa渦度 / 地上気圧】  </a:t>
            </a:r>
            <a:r>
              <a:rPr sz="1000">
                <a:solidFill>
                  <a:srgbClr val="3C3C3C"/>
                </a:solidFill>
              </a:rPr>
              <a:t>IT: 2026041200  </a:t>
            </a:r>
            <a:r>
              <a:rPr sz="900">
                <a:solidFill>
                  <a:srgbClr val="6E6E6E"/>
                </a:solidFill>
              </a:rPr>
              <a:t>FT024h (04/13 00UTC)  FT036h (04/13 12UTC)</a:t>
            </a:r>
          </a:p>
        </p:txBody>
      </p:sp>
      <p:pic>
        <p:nvPicPr>
          <p:cNvPr id="3" name="Picture 2" descr="2026041200_FT024h_500hPa_Height_V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91" y="347472"/>
            <a:ext cx="3490113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FT024h (04/13 00UTC)  500hPa_Height_VORT</a:t>
            </a:r>
          </a:p>
        </p:txBody>
      </p:sp>
      <p:pic>
        <p:nvPicPr>
          <p:cNvPr id="5" name="Picture 4" descr="2026041200_FT036h_500hPa_Height_V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377" y="347472"/>
            <a:ext cx="3474949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99432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FT036h (04/13 12UTC)  500hPa_Height_VORT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" y="3602736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B4B4B4"/>
                </a:solidFill>
              </a:rPr>
              <a:t>（画像なし）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FT024h (04/13 00UTC)  GSM_SurfacePressure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3602736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B4B4B4"/>
                </a:solidFill>
              </a:rPr>
              <a:t>（画像なし）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FT036h (04/13 12UTC)  GSM_SurfacePressure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36576"/>
            <a:ext cx="8924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1482"/>
                </a:solidFill>
              </a:rPr>
              <a:t>【GSM: 500hPa渦度 / 地上気圧】  </a:t>
            </a:r>
            <a:r>
              <a:rPr sz="1000">
                <a:solidFill>
                  <a:srgbClr val="3C3C3C"/>
                </a:solidFill>
              </a:rPr>
              <a:t>IT: 2026041200  </a:t>
            </a:r>
            <a:r>
              <a:rPr sz="900">
                <a:solidFill>
                  <a:srgbClr val="6E6E6E"/>
                </a:solidFill>
              </a:rPr>
              <a:t>FT048h (04/14 00UTC)</a:t>
            </a:r>
          </a:p>
        </p:txBody>
      </p:sp>
      <p:pic>
        <p:nvPicPr>
          <p:cNvPr id="3" name="Picture 2" descr="2026041200_FT048h_500hPa_Height_V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64" y="347472"/>
            <a:ext cx="3467368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FT048h (04/14 00UTC)  500hPa_Height_VORT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" y="3602736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B4B4B4"/>
                </a:solidFill>
              </a:rPr>
              <a:t>（画像なし）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FT048h (04/14 00UTC)  GSM_SurfacePressure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36576"/>
            <a:ext cx="8924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1482"/>
                </a:solidFill>
              </a:rPr>
              <a:t>【GSM: 300hPa ジェット / 850hPa Qベクター】  </a:t>
            </a:r>
            <a:r>
              <a:rPr sz="1000">
                <a:solidFill>
                  <a:srgbClr val="3C3C3C"/>
                </a:solidFill>
              </a:rPr>
              <a:t>IT: 2026041200  </a:t>
            </a:r>
            <a:r>
              <a:rPr sz="900">
                <a:solidFill>
                  <a:srgbClr val="6E6E6E"/>
                </a:solidFill>
              </a:rPr>
              <a:t>FT000h (04/12 00UTC)  FT012h (04/12 12UTC)</a:t>
            </a:r>
          </a:p>
        </p:txBody>
      </p:sp>
      <p:pic>
        <p:nvPicPr>
          <p:cNvPr id="3" name="Picture 2" descr="2026041200_FT000h_300hPa_J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63" y="347472"/>
            <a:ext cx="3356169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FT000h (04/12 00UTC)  300hPa_Jet</a:t>
            </a:r>
          </a:p>
        </p:txBody>
      </p:sp>
      <p:pic>
        <p:nvPicPr>
          <p:cNvPr id="5" name="Picture 4" descr="2026041200_FT012h_300hPa_J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495" y="347472"/>
            <a:ext cx="3406714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99432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FT012h (04/12 12UTC)  300hPa_Jet</a:t>
            </a:r>
          </a:p>
        </p:txBody>
      </p:sp>
      <p:pic>
        <p:nvPicPr>
          <p:cNvPr id="7" name="Picture 6" descr="2026041200_FT000h_850hPa_QV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26" y="3602736"/>
            <a:ext cx="3242444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FT000h (04/12 00UTC)  850hPa_QVec</a:t>
            </a:r>
          </a:p>
        </p:txBody>
      </p:sp>
      <p:pic>
        <p:nvPicPr>
          <p:cNvPr id="9" name="Picture 8" descr="2026041200_FT012h_850hPa_QV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358" y="3602736"/>
            <a:ext cx="3292988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9432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FT012h (04/12 12UTC)  850hPa_QVec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36576"/>
            <a:ext cx="8924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1482"/>
                </a:solidFill>
              </a:rPr>
              <a:t>【GSM: 300hPa ジェット / 850hPa Qベクター】  </a:t>
            </a:r>
            <a:r>
              <a:rPr sz="1000">
                <a:solidFill>
                  <a:srgbClr val="3C3C3C"/>
                </a:solidFill>
              </a:rPr>
              <a:t>IT: 2026041200  </a:t>
            </a:r>
            <a:r>
              <a:rPr sz="900">
                <a:solidFill>
                  <a:srgbClr val="6E6E6E"/>
                </a:solidFill>
              </a:rPr>
              <a:t>FT024h (04/13 00UTC)  FT036h (04/13 12UTC)</a:t>
            </a:r>
          </a:p>
        </p:txBody>
      </p:sp>
      <p:pic>
        <p:nvPicPr>
          <p:cNvPr id="3" name="Picture 2" descr="2026041200_FT024h_300hPa_J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91" y="347472"/>
            <a:ext cx="3406714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FT024h (04/13 00UTC)  300hPa_Jet</a:t>
            </a:r>
          </a:p>
        </p:txBody>
      </p:sp>
      <p:pic>
        <p:nvPicPr>
          <p:cNvPr id="5" name="Picture 4" descr="2026041200_FT036h_300hPa_J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495" y="347472"/>
            <a:ext cx="3406714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99432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FT036h (04/13 12UTC)  300hPa_Jet</a:t>
            </a:r>
          </a:p>
        </p:txBody>
      </p:sp>
      <p:pic>
        <p:nvPicPr>
          <p:cNvPr id="7" name="Picture 6" descr="2026041200_FT024h_850hPa_QV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54" y="3602736"/>
            <a:ext cx="3292988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FT024h (04/13 00UTC)  850hPa_QVec</a:t>
            </a:r>
          </a:p>
        </p:txBody>
      </p:sp>
      <p:pic>
        <p:nvPicPr>
          <p:cNvPr id="9" name="Picture 8" descr="2026041200_FT036h_850hPa_QV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358" y="3602736"/>
            <a:ext cx="3292988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9432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FT036h (04/13 12UTC)  850hPa_QVec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36576"/>
            <a:ext cx="89245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41482"/>
                </a:solidFill>
              </a:rPr>
              <a:t>【GSM: 300hPa ジェット / 850hPa Qベクター】  </a:t>
            </a:r>
            <a:r>
              <a:rPr sz="1000">
                <a:solidFill>
                  <a:srgbClr val="3C3C3C"/>
                </a:solidFill>
              </a:rPr>
              <a:t>IT: 2026041200  </a:t>
            </a:r>
            <a:r>
              <a:rPr sz="900">
                <a:solidFill>
                  <a:srgbClr val="6E6E6E"/>
                </a:solidFill>
              </a:rPr>
              <a:t>FT048h (04/14 00UTC)</a:t>
            </a:r>
          </a:p>
        </p:txBody>
      </p:sp>
      <p:pic>
        <p:nvPicPr>
          <p:cNvPr id="3" name="Picture 2" descr="2026041200_FT048h_300hPa_J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91" y="347472"/>
            <a:ext cx="3406714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" y="3364992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FT048h (04/14 00UTC)  300hPa_Jet</a:t>
            </a:r>
          </a:p>
        </p:txBody>
      </p:sp>
      <p:pic>
        <p:nvPicPr>
          <p:cNvPr id="5" name="Picture 4" descr="2026041200_FT048h_850hPa_QV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54" y="3602736"/>
            <a:ext cx="3292988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" y="6620256"/>
            <a:ext cx="4434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5A5A5A"/>
                </a:solidFill>
              </a:rPr>
              <a:t>FT048h (04/14 00UTC)  850hPa_QVec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